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6"/>
  </p:notesMasterIdLst>
  <p:sldIdLst>
    <p:sldId id="279" r:id="rId5"/>
    <p:sldId id="280" r:id="rId6"/>
    <p:sldId id="281" r:id="rId7"/>
    <p:sldId id="282" r:id="rId8"/>
    <p:sldId id="283" r:id="rId9"/>
    <p:sldId id="284" r:id="rId10"/>
    <p:sldId id="285" r:id="rId11"/>
    <p:sldId id="286" r:id="rId12"/>
    <p:sldId id="287" r:id="rId13"/>
    <p:sldId id="292" r:id="rId14"/>
    <p:sldId id="288" r:id="rId15"/>
    <p:sldId id="300" r:id="rId16"/>
    <p:sldId id="289" r:id="rId17"/>
    <p:sldId id="290" r:id="rId18"/>
    <p:sldId id="291" r:id="rId19"/>
    <p:sldId id="293" r:id="rId20"/>
    <p:sldId id="297" r:id="rId21"/>
    <p:sldId id="295" r:id="rId22"/>
    <p:sldId id="296" r:id="rId23"/>
    <p:sldId id="298" r:id="rId24"/>
    <p:sldId id="29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6/6/2021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6/6/2021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6/6/2021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6/6/2021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6/6/2021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6/6/2021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6/6/2021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6/6/2021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6/6/2021</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899081" y="3167269"/>
            <a:ext cx="4538124" cy="970450"/>
          </a:xfrm>
        </p:spPr>
        <p:txBody>
          <a:bodyPr anchor="b">
            <a:noAutofit/>
          </a:bodyPr>
          <a:lstStyle/>
          <a:p>
            <a:r>
              <a:rPr lang="en-US" sz="4400" dirty="0"/>
              <a:t>Gender Neutrality and Inclusion	</a:t>
            </a:r>
          </a:p>
        </p:txBody>
      </p:sp>
      <p:sp>
        <p:nvSpPr>
          <p:cNvPr id="9" name="Title 1">
            <a:extLst>
              <a:ext uri="{FF2B5EF4-FFF2-40B4-BE49-F238E27FC236}">
                <a16:creationId xmlns:a16="http://schemas.microsoft.com/office/drawing/2014/main" id="{3FC57F24-E808-4FE0-9609-FCBA33413CA9}"/>
              </a:ext>
            </a:extLst>
          </p:cNvPr>
          <p:cNvSpPr txBox="1">
            <a:spLocks/>
          </p:cNvSpPr>
          <p:nvPr/>
        </p:nvSpPr>
        <p:spPr>
          <a:xfrm>
            <a:off x="8654995" y="5130248"/>
            <a:ext cx="4538124" cy="735223"/>
          </a:xfrm>
          <a:prstGeom prst="rect">
            <a:avLst/>
          </a:prstGeom>
          <a:effectLst>
            <a:outerShdw blurRad="25400" dir="17880000">
              <a:srgbClr val="000000">
                <a:alpha val="46000"/>
              </a:srgbClr>
            </a:outerShdw>
          </a:effectLst>
        </p:spPr>
        <p:txBody>
          <a:bodyPr vert="horz" lIns="91440" tIns="45720" rIns="91440" bIns="45720" rtlCol="0" anchor="b">
            <a:noAutofit/>
          </a:bodyPr>
          <a:lst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2400" dirty="0"/>
              <a:t>     Name: Avijeet Ranawat</a:t>
            </a:r>
          </a:p>
        </p:txBody>
      </p:sp>
    </p:spTree>
    <p:extLst>
      <p:ext uri="{BB962C8B-B14F-4D97-AF65-F5344CB8AC3E}">
        <p14:creationId xmlns:p14="http://schemas.microsoft.com/office/powerpoint/2010/main" val="3220235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62A9-EE31-46CC-B777-3AEC6C148109}"/>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A4F97885-7045-4830-88AA-861FB233F518}"/>
              </a:ext>
            </a:extLst>
          </p:cNvPr>
          <p:cNvSpPr>
            <a:spLocks noGrp="1"/>
          </p:cNvSpPr>
          <p:nvPr>
            <p:ph idx="1"/>
          </p:nvPr>
        </p:nvSpPr>
        <p:spPr/>
        <p:txBody>
          <a:bodyPr>
            <a:normAutofit/>
          </a:bodyPr>
          <a:lstStyle/>
          <a:p>
            <a:r>
              <a:rPr lang="en-IN" dirty="0" err="1">
                <a:solidFill>
                  <a:schemeClr val="tx1"/>
                </a:solidFill>
                <a:latin typeface="Comic Sans MS" panose="030F0702030302020204" pitchFamily="66" charset="0"/>
              </a:rPr>
              <a:t>XyX</a:t>
            </a:r>
            <a:r>
              <a:rPr lang="en-IN" dirty="0">
                <a:solidFill>
                  <a:schemeClr val="tx1"/>
                </a:solidFill>
                <a:latin typeface="Comic Sans MS" panose="030F0702030302020204" pitchFamily="66" charset="0"/>
              </a:rPr>
              <a:t> corporation recruits employees for fixed Job Codes every year. Basis the applications received last year for each job code profile, a ‘fitment %’ percentage was determined based on selections made. </a:t>
            </a:r>
            <a:r>
              <a:rPr lang="en-IN" dirty="0" err="1">
                <a:solidFill>
                  <a:schemeClr val="tx1"/>
                </a:solidFill>
                <a:latin typeface="Comic Sans MS" panose="030F0702030302020204" pitchFamily="66" charset="0"/>
              </a:rPr>
              <a:t>XyX</a:t>
            </a:r>
            <a:r>
              <a:rPr lang="en-IN" dirty="0">
                <a:solidFill>
                  <a:schemeClr val="tx1"/>
                </a:solidFill>
                <a:latin typeface="Comic Sans MS" panose="030F0702030302020204" pitchFamily="66" charset="0"/>
              </a:rPr>
              <a:t> followed a fair and equitable approach by personally looking at all parameters and determining the right fit. This year the number of applicants has multiplied and they are looking at an ML model to predict the ‘fitment %’ for the applications received maintaining a fair and equitable approach.</a:t>
            </a:r>
          </a:p>
        </p:txBody>
      </p:sp>
    </p:spTree>
    <p:extLst>
      <p:ext uri="{BB962C8B-B14F-4D97-AF65-F5344CB8AC3E}">
        <p14:creationId xmlns:p14="http://schemas.microsoft.com/office/powerpoint/2010/main" val="2245034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BFBCB-7EF2-4A41-A328-B2AF8A286480}"/>
              </a:ext>
            </a:extLst>
          </p:cNvPr>
          <p:cNvSpPr>
            <a:spLocks noGrp="1"/>
          </p:cNvSpPr>
          <p:nvPr>
            <p:ph type="title"/>
          </p:nvPr>
        </p:nvSpPr>
        <p:spPr/>
        <p:txBody>
          <a:bodyPr/>
          <a:lstStyle/>
          <a:p>
            <a:r>
              <a:rPr lang="en-IN" dirty="0"/>
              <a:t>Tasks</a:t>
            </a:r>
          </a:p>
        </p:txBody>
      </p:sp>
      <p:sp>
        <p:nvSpPr>
          <p:cNvPr id="3" name="Content Placeholder 2">
            <a:extLst>
              <a:ext uri="{FF2B5EF4-FFF2-40B4-BE49-F238E27FC236}">
                <a16:creationId xmlns:a16="http://schemas.microsoft.com/office/drawing/2014/main" id="{E1F2FD04-89AD-4E35-BCDD-48BE11645A67}"/>
              </a:ext>
            </a:extLst>
          </p:cNvPr>
          <p:cNvSpPr>
            <a:spLocks noGrp="1"/>
          </p:cNvSpPr>
          <p:nvPr>
            <p:ph idx="1"/>
          </p:nvPr>
        </p:nvSpPr>
        <p:spPr/>
        <p:txBody>
          <a:bodyPr/>
          <a:lstStyle/>
          <a:p>
            <a:endParaRPr lang="en-IN" dirty="0">
              <a:solidFill>
                <a:schemeClr val="tx1"/>
              </a:solidFill>
              <a:latin typeface="Comic Sans MS" panose="030F0702030302020204" pitchFamily="66" charset="0"/>
            </a:endParaRPr>
          </a:p>
          <a:p>
            <a:pPr marL="36900" indent="0">
              <a:buNone/>
            </a:pPr>
            <a:r>
              <a:rPr lang="en-IN" dirty="0">
                <a:solidFill>
                  <a:schemeClr val="tx1"/>
                </a:solidFill>
                <a:latin typeface="Comic Sans MS" panose="030F0702030302020204" pitchFamily="66" charset="0"/>
              </a:rPr>
              <a:t>Build a model that calculates the ‘fitment %’ &amp; detects the factor that influences relevancy and making sure that factor does not introduce inequality and/or bias in the’ fitment %’ by appropriate feature re-engineering.</a:t>
            </a:r>
          </a:p>
        </p:txBody>
      </p:sp>
    </p:spTree>
    <p:extLst>
      <p:ext uri="{BB962C8B-B14F-4D97-AF65-F5344CB8AC3E}">
        <p14:creationId xmlns:p14="http://schemas.microsoft.com/office/powerpoint/2010/main" val="499695626"/>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A7A44-5E41-4E6C-B874-147D5C8CBE80}"/>
              </a:ext>
            </a:extLst>
          </p:cNvPr>
          <p:cNvSpPr>
            <a:spLocks noGrp="1"/>
          </p:cNvSpPr>
          <p:nvPr>
            <p:ph type="title"/>
          </p:nvPr>
        </p:nvSpPr>
        <p:spPr/>
        <p:txBody>
          <a:bodyPr/>
          <a:lstStyle/>
          <a:p>
            <a:r>
              <a:rPr lang="en-IN" dirty="0"/>
              <a:t>Data </a:t>
            </a:r>
          </a:p>
        </p:txBody>
      </p:sp>
      <p:pic>
        <p:nvPicPr>
          <p:cNvPr id="5" name="Content Placeholder 4">
            <a:extLst>
              <a:ext uri="{FF2B5EF4-FFF2-40B4-BE49-F238E27FC236}">
                <a16:creationId xmlns:a16="http://schemas.microsoft.com/office/drawing/2014/main" id="{74218903-7243-4A3E-B9A8-DD02E64DF217}"/>
              </a:ext>
            </a:extLst>
          </p:cNvPr>
          <p:cNvPicPr>
            <a:picLocks noGrp="1" noChangeAspect="1"/>
          </p:cNvPicPr>
          <p:nvPr>
            <p:ph idx="1"/>
          </p:nvPr>
        </p:nvPicPr>
        <p:blipFill>
          <a:blip r:embed="rId2"/>
          <a:stretch>
            <a:fillRect/>
          </a:stretch>
        </p:blipFill>
        <p:spPr>
          <a:xfrm>
            <a:off x="2372208" y="2076450"/>
            <a:ext cx="7438059" cy="371475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86268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6206-E463-44B9-A901-33BE020B47E5}"/>
              </a:ext>
            </a:extLst>
          </p:cNvPr>
          <p:cNvSpPr>
            <a:spLocks noGrp="1"/>
          </p:cNvSpPr>
          <p:nvPr>
            <p:ph type="title"/>
          </p:nvPr>
        </p:nvSpPr>
        <p:spPr/>
        <p:txBody>
          <a:bodyPr/>
          <a:lstStyle/>
          <a:p>
            <a:r>
              <a:rPr lang="en-IN" dirty="0"/>
              <a:t>Data</a:t>
            </a:r>
          </a:p>
        </p:txBody>
      </p:sp>
      <p:pic>
        <p:nvPicPr>
          <p:cNvPr id="5" name="Content Placeholder 4">
            <a:extLst>
              <a:ext uri="{FF2B5EF4-FFF2-40B4-BE49-F238E27FC236}">
                <a16:creationId xmlns:a16="http://schemas.microsoft.com/office/drawing/2014/main" id="{85177E6F-99C2-4114-9E69-84FA9AF9BBE9}"/>
              </a:ext>
            </a:extLst>
          </p:cNvPr>
          <p:cNvPicPr>
            <a:picLocks noGrp="1" noChangeAspect="1"/>
          </p:cNvPicPr>
          <p:nvPr>
            <p:ph idx="1"/>
          </p:nvPr>
        </p:nvPicPr>
        <p:blipFill>
          <a:blip r:embed="rId2"/>
          <a:stretch>
            <a:fillRect/>
          </a:stretch>
        </p:blipFill>
        <p:spPr>
          <a:xfrm>
            <a:off x="2587642" y="2076450"/>
            <a:ext cx="7007191" cy="371475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63397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25315-26BC-471A-A8B6-6387F19042B6}"/>
              </a:ext>
            </a:extLst>
          </p:cNvPr>
          <p:cNvSpPr>
            <a:spLocks noGrp="1"/>
          </p:cNvSpPr>
          <p:nvPr>
            <p:ph type="title"/>
          </p:nvPr>
        </p:nvSpPr>
        <p:spPr>
          <a:xfrm>
            <a:off x="914356" y="702365"/>
            <a:ext cx="10353762" cy="993913"/>
          </a:xfrm>
        </p:spPr>
        <p:txBody>
          <a:bodyPr/>
          <a:lstStyle/>
          <a:p>
            <a:r>
              <a:rPr lang="en-IN" dirty="0"/>
              <a:t>Correlation chart</a:t>
            </a:r>
          </a:p>
        </p:txBody>
      </p:sp>
      <p:sp>
        <p:nvSpPr>
          <p:cNvPr id="7" name="Content Placeholder 6">
            <a:extLst>
              <a:ext uri="{FF2B5EF4-FFF2-40B4-BE49-F238E27FC236}">
                <a16:creationId xmlns:a16="http://schemas.microsoft.com/office/drawing/2014/main" id="{73671414-C06A-43BD-8A32-2FAF1C6512F6}"/>
              </a:ext>
            </a:extLst>
          </p:cNvPr>
          <p:cNvSpPr>
            <a:spLocks noGrp="1"/>
          </p:cNvSpPr>
          <p:nvPr>
            <p:ph idx="1"/>
          </p:nvPr>
        </p:nvSpPr>
        <p:spPr>
          <a:xfrm>
            <a:off x="913795" y="1895062"/>
            <a:ext cx="10353762" cy="3896138"/>
          </a:xfrm>
        </p:spPr>
        <p:txBody>
          <a:bodyPr/>
          <a:lstStyle/>
          <a:p>
            <a:r>
              <a:rPr lang="en-IN" dirty="0"/>
              <a:t>Certain features were redundant due to their correlation, they are not considered further. Ex: </a:t>
            </a:r>
            <a:r>
              <a:rPr lang="en-IN" dirty="0" err="1"/>
              <a:t>GraduationYear</a:t>
            </a:r>
            <a:r>
              <a:rPr lang="en-IN" dirty="0"/>
              <a:t> with Age, Expected CTC with Current CTC</a:t>
            </a:r>
          </a:p>
          <a:p>
            <a:endParaRPr lang="en-IN" dirty="0"/>
          </a:p>
        </p:txBody>
      </p:sp>
      <p:pic>
        <p:nvPicPr>
          <p:cNvPr id="9" name="Picture 8">
            <a:extLst>
              <a:ext uri="{FF2B5EF4-FFF2-40B4-BE49-F238E27FC236}">
                <a16:creationId xmlns:a16="http://schemas.microsoft.com/office/drawing/2014/main" id="{C298F6D2-2E55-4D67-9D50-A18FE398F9BF}"/>
              </a:ext>
            </a:extLst>
          </p:cNvPr>
          <p:cNvPicPr>
            <a:picLocks noChangeAspect="1"/>
          </p:cNvPicPr>
          <p:nvPr/>
        </p:nvPicPr>
        <p:blipFill>
          <a:blip r:embed="rId2"/>
          <a:stretch>
            <a:fillRect/>
          </a:stretch>
        </p:blipFill>
        <p:spPr>
          <a:xfrm>
            <a:off x="3384895" y="2998511"/>
            <a:ext cx="5210175" cy="3590925"/>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748818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BDD3-384F-482F-8978-16C464FB5019}"/>
              </a:ext>
            </a:extLst>
          </p:cNvPr>
          <p:cNvSpPr>
            <a:spLocks noGrp="1"/>
          </p:cNvSpPr>
          <p:nvPr>
            <p:ph type="title"/>
          </p:nvPr>
        </p:nvSpPr>
        <p:spPr/>
        <p:txBody>
          <a:bodyPr/>
          <a:lstStyle/>
          <a:p>
            <a:r>
              <a:rPr lang="en-IN" dirty="0"/>
              <a:t>Gender Bias</a:t>
            </a:r>
          </a:p>
        </p:txBody>
      </p:sp>
      <p:sp>
        <p:nvSpPr>
          <p:cNvPr id="7" name="Content Placeholder 6">
            <a:extLst>
              <a:ext uri="{FF2B5EF4-FFF2-40B4-BE49-F238E27FC236}">
                <a16:creationId xmlns:a16="http://schemas.microsoft.com/office/drawing/2014/main" id="{B4EA66D3-873A-439D-9496-1B1B07BABC3D}"/>
              </a:ext>
            </a:extLst>
          </p:cNvPr>
          <p:cNvSpPr>
            <a:spLocks noGrp="1"/>
          </p:cNvSpPr>
          <p:nvPr>
            <p:ph idx="1"/>
          </p:nvPr>
        </p:nvSpPr>
        <p:spPr>
          <a:xfrm>
            <a:off x="913795" y="1866900"/>
            <a:ext cx="10353762" cy="3714749"/>
          </a:xfrm>
        </p:spPr>
        <p:txBody>
          <a:bodyPr/>
          <a:lstStyle/>
          <a:p>
            <a:r>
              <a:rPr lang="en-IN" dirty="0"/>
              <a:t>The ‘Other’ class gender are seen to have been less in terms of fitment according to stats of previous year.</a:t>
            </a:r>
          </a:p>
        </p:txBody>
      </p:sp>
      <p:pic>
        <p:nvPicPr>
          <p:cNvPr id="9" name="Picture 8">
            <a:extLst>
              <a:ext uri="{FF2B5EF4-FFF2-40B4-BE49-F238E27FC236}">
                <a16:creationId xmlns:a16="http://schemas.microsoft.com/office/drawing/2014/main" id="{88354FC5-7C0A-4D99-9B7F-75ED7F1774B4}"/>
              </a:ext>
            </a:extLst>
          </p:cNvPr>
          <p:cNvPicPr>
            <a:picLocks noChangeAspect="1"/>
          </p:cNvPicPr>
          <p:nvPr/>
        </p:nvPicPr>
        <p:blipFill>
          <a:blip r:embed="rId2"/>
          <a:stretch>
            <a:fillRect/>
          </a:stretch>
        </p:blipFill>
        <p:spPr>
          <a:xfrm>
            <a:off x="2795544" y="2914649"/>
            <a:ext cx="6590264" cy="3601237"/>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64953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6B23B-7567-4933-8F6A-8493AA26B77B}"/>
              </a:ext>
            </a:extLst>
          </p:cNvPr>
          <p:cNvSpPr>
            <a:spLocks noGrp="1"/>
          </p:cNvSpPr>
          <p:nvPr>
            <p:ph idx="1"/>
          </p:nvPr>
        </p:nvSpPr>
        <p:spPr>
          <a:xfrm>
            <a:off x="913795" y="251792"/>
            <a:ext cx="10353762" cy="5539408"/>
          </a:xfrm>
        </p:spPr>
        <p:txBody>
          <a:bodyPr/>
          <a:lstStyle/>
          <a:p>
            <a:r>
              <a:rPr lang="en-IN" dirty="0"/>
              <a:t>Though the ‘Other’ class is equally qualified in terms of </a:t>
            </a:r>
            <a:r>
              <a:rPr lang="en-IN" dirty="0" err="1"/>
              <a:t>LatestDegreeCGPA</a:t>
            </a:r>
            <a:r>
              <a:rPr lang="en-IN" dirty="0"/>
              <a:t>, or </a:t>
            </a:r>
            <a:r>
              <a:rPr lang="en-IN" dirty="0" err="1"/>
              <a:t>EmpScore</a:t>
            </a:r>
            <a:r>
              <a:rPr lang="en-IN" dirty="0"/>
              <a:t>, or the </a:t>
            </a:r>
            <a:r>
              <a:rPr lang="en-IN" dirty="0" err="1"/>
              <a:t>TotalLeavesTaken</a:t>
            </a:r>
            <a:r>
              <a:rPr lang="en-IN" dirty="0"/>
              <a:t>.</a:t>
            </a:r>
          </a:p>
        </p:txBody>
      </p:sp>
      <p:pic>
        <p:nvPicPr>
          <p:cNvPr id="7" name="Picture 6">
            <a:extLst>
              <a:ext uri="{FF2B5EF4-FFF2-40B4-BE49-F238E27FC236}">
                <a16:creationId xmlns:a16="http://schemas.microsoft.com/office/drawing/2014/main" id="{753CB655-92D2-47A0-A6DC-274D89C6A30F}"/>
              </a:ext>
            </a:extLst>
          </p:cNvPr>
          <p:cNvPicPr>
            <a:picLocks noChangeAspect="1"/>
          </p:cNvPicPr>
          <p:nvPr/>
        </p:nvPicPr>
        <p:blipFill>
          <a:blip r:embed="rId2"/>
          <a:stretch>
            <a:fillRect/>
          </a:stretch>
        </p:blipFill>
        <p:spPr>
          <a:xfrm>
            <a:off x="6458555" y="1219407"/>
            <a:ext cx="4819650" cy="2752725"/>
          </a:xfrm>
          <a:prstGeom prst="rect">
            <a:avLst/>
          </a:prstGeom>
          <a:ln w="228600" cap="sq" cmpd="thickThin">
            <a:solidFill>
              <a:srgbClr val="000000"/>
            </a:solidFill>
            <a:prstDash val="solid"/>
            <a:miter lim="800000"/>
          </a:ln>
          <a:effectLst>
            <a:innerShdw blurRad="76200">
              <a:srgbClr val="000000"/>
            </a:innerShdw>
          </a:effectLst>
        </p:spPr>
      </p:pic>
      <p:pic>
        <p:nvPicPr>
          <p:cNvPr id="9" name="Picture 8">
            <a:extLst>
              <a:ext uri="{FF2B5EF4-FFF2-40B4-BE49-F238E27FC236}">
                <a16:creationId xmlns:a16="http://schemas.microsoft.com/office/drawing/2014/main" id="{039D62F6-005C-43C4-A11D-8FAD83991844}"/>
              </a:ext>
            </a:extLst>
          </p:cNvPr>
          <p:cNvPicPr>
            <a:picLocks noChangeAspect="1"/>
          </p:cNvPicPr>
          <p:nvPr/>
        </p:nvPicPr>
        <p:blipFill>
          <a:blip r:embed="rId3"/>
          <a:stretch>
            <a:fillRect/>
          </a:stretch>
        </p:blipFill>
        <p:spPr>
          <a:xfrm>
            <a:off x="903147" y="1219407"/>
            <a:ext cx="4552950" cy="2828925"/>
          </a:xfrm>
          <a:prstGeom prst="rect">
            <a:avLst/>
          </a:prstGeom>
          <a:ln w="228600" cap="sq" cmpd="thickThin">
            <a:solidFill>
              <a:srgbClr val="000000"/>
            </a:solidFill>
            <a:prstDash val="solid"/>
            <a:miter lim="800000"/>
          </a:ln>
          <a:effectLst>
            <a:innerShdw blurRad="76200">
              <a:srgbClr val="000000"/>
            </a:innerShdw>
          </a:effectLst>
        </p:spPr>
      </p:pic>
      <p:pic>
        <p:nvPicPr>
          <p:cNvPr id="11" name="Picture 10">
            <a:extLst>
              <a:ext uri="{FF2B5EF4-FFF2-40B4-BE49-F238E27FC236}">
                <a16:creationId xmlns:a16="http://schemas.microsoft.com/office/drawing/2014/main" id="{BDC9DD1A-F9A5-4A7F-BDB0-AF97B4E99521}"/>
              </a:ext>
            </a:extLst>
          </p:cNvPr>
          <p:cNvPicPr>
            <a:picLocks noChangeAspect="1"/>
          </p:cNvPicPr>
          <p:nvPr/>
        </p:nvPicPr>
        <p:blipFill>
          <a:blip r:embed="rId4"/>
          <a:stretch>
            <a:fillRect/>
          </a:stretch>
        </p:blipFill>
        <p:spPr>
          <a:xfrm>
            <a:off x="3531913" y="4303546"/>
            <a:ext cx="4819650" cy="234258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48484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3212B-C335-47A2-AB45-33B026D79B50}"/>
              </a:ext>
            </a:extLst>
          </p:cNvPr>
          <p:cNvSpPr>
            <a:spLocks noGrp="1"/>
          </p:cNvSpPr>
          <p:nvPr>
            <p:ph type="title"/>
          </p:nvPr>
        </p:nvSpPr>
        <p:spPr/>
        <p:txBody>
          <a:bodyPr/>
          <a:lstStyle/>
          <a:p>
            <a:r>
              <a:rPr lang="en-IN" dirty="0"/>
              <a:t>Unknown Data for Bias</a:t>
            </a:r>
          </a:p>
        </p:txBody>
      </p:sp>
      <p:sp>
        <p:nvSpPr>
          <p:cNvPr id="7" name="Content Placeholder 6">
            <a:extLst>
              <a:ext uri="{FF2B5EF4-FFF2-40B4-BE49-F238E27FC236}">
                <a16:creationId xmlns:a16="http://schemas.microsoft.com/office/drawing/2014/main" id="{2A24C7CF-7A17-4092-8266-87E39E289BAB}"/>
              </a:ext>
            </a:extLst>
          </p:cNvPr>
          <p:cNvSpPr>
            <a:spLocks noGrp="1"/>
          </p:cNvSpPr>
          <p:nvPr>
            <p:ph idx="1"/>
          </p:nvPr>
        </p:nvSpPr>
        <p:spPr/>
        <p:txBody>
          <a:bodyPr/>
          <a:lstStyle/>
          <a:p>
            <a:r>
              <a:rPr lang="en-IN" dirty="0"/>
              <a:t>The data without any identified bias has a huge drop in fitment indicated by the orange part below. </a:t>
            </a:r>
          </a:p>
        </p:txBody>
      </p:sp>
      <p:pic>
        <p:nvPicPr>
          <p:cNvPr id="9" name="Picture 8">
            <a:extLst>
              <a:ext uri="{FF2B5EF4-FFF2-40B4-BE49-F238E27FC236}">
                <a16:creationId xmlns:a16="http://schemas.microsoft.com/office/drawing/2014/main" id="{5A08D2D6-4C42-49F4-8F68-77C7209A2E32}"/>
              </a:ext>
            </a:extLst>
          </p:cNvPr>
          <p:cNvPicPr>
            <a:picLocks noChangeAspect="1"/>
          </p:cNvPicPr>
          <p:nvPr/>
        </p:nvPicPr>
        <p:blipFill>
          <a:blip r:embed="rId2"/>
          <a:stretch>
            <a:fillRect/>
          </a:stretch>
        </p:blipFill>
        <p:spPr>
          <a:xfrm>
            <a:off x="236954" y="3142210"/>
            <a:ext cx="11718091" cy="2197793"/>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975920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2A3AC-A9EC-454C-97A8-0F842B3032AA}"/>
              </a:ext>
            </a:extLst>
          </p:cNvPr>
          <p:cNvSpPr>
            <a:spLocks noGrp="1"/>
          </p:cNvSpPr>
          <p:nvPr>
            <p:ph type="title"/>
          </p:nvPr>
        </p:nvSpPr>
        <p:spPr>
          <a:xfrm>
            <a:off x="913795" y="106018"/>
            <a:ext cx="10353762" cy="834886"/>
          </a:xfrm>
        </p:spPr>
        <p:txBody>
          <a:bodyPr/>
          <a:lstStyle/>
          <a:p>
            <a:r>
              <a:rPr lang="en-IN" dirty="0"/>
              <a:t>Data Insights</a:t>
            </a:r>
          </a:p>
        </p:txBody>
      </p:sp>
      <p:sp>
        <p:nvSpPr>
          <p:cNvPr id="3" name="Content Placeholder 2">
            <a:extLst>
              <a:ext uri="{FF2B5EF4-FFF2-40B4-BE49-F238E27FC236}">
                <a16:creationId xmlns:a16="http://schemas.microsoft.com/office/drawing/2014/main" id="{E85C0FF8-ECC4-4117-9B94-26C2699A295D}"/>
              </a:ext>
            </a:extLst>
          </p:cNvPr>
          <p:cNvSpPr>
            <a:spLocks noGrp="1"/>
          </p:cNvSpPr>
          <p:nvPr>
            <p:ph idx="1"/>
          </p:nvPr>
        </p:nvSpPr>
        <p:spPr>
          <a:xfrm>
            <a:off x="924443" y="940904"/>
            <a:ext cx="10353762" cy="3714749"/>
          </a:xfrm>
        </p:spPr>
        <p:txBody>
          <a:bodyPr/>
          <a:lstStyle/>
          <a:p>
            <a:r>
              <a:rPr lang="en-IN" dirty="0"/>
              <a:t>For IT professionals with degree in </a:t>
            </a:r>
            <a:r>
              <a:rPr lang="fr-FR" dirty="0"/>
              <a:t>'Computer Science’, 'Information </a:t>
            </a:r>
            <a:r>
              <a:rPr lang="fr-FR" dirty="0" err="1"/>
              <a:t>Technology</a:t>
            </a:r>
            <a:r>
              <a:rPr lang="fr-FR" dirty="0"/>
              <a:t>’, '</a:t>
            </a:r>
            <a:r>
              <a:rPr lang="fr-FR" dirty="0" err="1"/>
              <a:t>Artificial</a:t>
            </a:r>
            <a:r>
              <a:rPr lang="fr-FR" dirty="0"/>
              <a:t> Intelligence’ </a:t>
            </a:r>
            <a:r>
              <a:rPr lang="fr-FR" dirty="0" err="1"/>
              <a:t>different</a:t>
            </a:r>
            <a:r>
              <a:rPr lang="fr-FR" dirty="0"/>
              <a:t> </a:t>
            </a:r>
            <a:r>
              <a:rPr lang="fr-FR" dirty="0" err="1"/>
              <a:t>gender</a:t>
            </a:r>
            <a:r>
              <a:rPr lang="fr-FR" dirty="0"/>
              <a:t> </a:t>
            </a:r>
            <a:r>
              <a:rPr lang="fr-FR" dirty="0" err="1"/>
              <a:t>had</a:t>
            </a:r>
            <a:r>
              <a:rPr lang="fr-FR" dirty="0"/>
              <a:t> </a:t>
            </a:r>
            <a:r>
              <a:rPr lang="fr-FR" dirty="0" err="1"/>
              <a:t>different</a:t>
            </a:r>
            <a:r>
              <a:rPr lang="fr-FR" dirty="0"/>
              <a:t> main </a:t>
            </a:r>
            <a:r>
              <a:rPr lang="fr-FR" dirty="0" err="1"/>
              <a:t>reasons</a:t>
            </a:r>
            <a:r>
              <a:rPr lang="fr-FR" dirty="0"/>
              <a:t> for </a:t>
            </a:r>
            <a:r>
              <a:rPr lang="fr-FR" dirty="0" err="1"/>
              <a:t>their</a:t>
            </a:r>
            <a:r>
              <a:rPr lang="fr-FR" dirty="0"/>
              <a:t> </a:t>
            </a:r>
            <a:r>
              <a:rPr lang="fr-FR" dirty="0" err="1"/>
              <a:t>selection</a:t>
            </a:r>
            <a:r>
              <a:rPr lang="fr-FR" dirty="0"/>
              <a:t>.</a:t>
            </a:r>
          </a:p>
          <a:p>
            <a:r>
              <a:rPr lang="fr-FR" dirty="0"/>
              <a:t>Like for ‘Male’ candidates </a:t>
            </a:r>
            <a:r>
              <a:rPr lang="fr-FR" dirty="0" err="1"/>
              <a:t>their</a:t>
            </a:r>
            <a:r>
              <a:rPr lang="fr-FR" dirty="0"/>
              <a:t> </a:t>
            </a:r>
            <a:r>
              <a:rPr lang="fr-FR" dirty="0" err="1"/>
              <a:t>Degree</a:t>
            </a:r>
            <a:r>
              <a:rPr lang="fr-FR" dirty="0"/>
              <a:t> Branch made </a:t>
            </a:r>
            <a:r>
              <a:rPr lang="fr-FR" dirty="0" err="1"/>
              <a:t>them</a:t>
            </a:r>
            <a:r>
              <a:rPr lang="fr-FR" dirty="0"/>
              <a:t> stand out.</a:t>
            </a:r>
          </a:p>
          <a:p>
            <a:r>
              <a:rPr lang="fr-FR" dirty="0" err="1"/>
              <a:t>While</a:t>
            </a:r>
            <a:r>
              <a:rPr lang="fr-FR" dirty="0"/>
              <a:t> for ‘</a:t>
            </a:r>
            <a:r>
              <a:rPr lang="fr-FR" dirty="0" err="1"/>
              <a:t>Female</a:t>
            </a:r>
            <a:r>
              <a:rPr lang="fr-FR" dirty="0"/>
              <a:t>’ candidates </a:t>
            </a:r>
            <a:r>
              <a:rPr lang="fr-FR" dirty="0" err="1"/>
              <a:t>their</a:t>
            </a:r>
            <a:r>
              <a:rPr lang="fr-FR" dirty="0"/>
              <a:t> </a:t>
            </a:r>
            <a:r>
              <a:rPr lang="fr-FR" dirty="0" err="1"/>
              <a:t>gender</a:t>
            </a:r>
            <a:r>
              <a:rPr lang="fr-FR" dirty="0"/>
              <a:t> </a:t>
            </a:r>
            <a:r>
              <a:rPr lang="fr-FR" dirty="0" err="1"/>
              <a:t>also</a:t>
            </a:r>
            <a:r>
              <a:rPr lang="fr-FR" dirty="0"/>
              <a:t> </a:t>
            </a:r>
            <a:r>
              <a:rPr lang="fr-FR" dirty="0" err="1"/>
              <a:t>contributed</a:t>
            </a:r>
            <a:r>
              <a:rPr lang="fr-FR" dirty="0"/>
              <a:t> </a:t>
            </a:r>
            <a:r>
              <a:rPr lang="fr-FR" dirty="0" err="1"/>
              <a:t>majorly</a:t>
            </a:r>
            <a:r>
              <a:rPr lang="fr-FR" dirty="0"/>
              <a:t> in </a:t>
            </a:r>
            <a:r>
              <a:rPr lang="fr-FR" dirty="0" err="1"/>
              <a:t>selection</a:t>
            </a:r>
            <a:r>
              <a:rPr lang="fr-FR" dirty="0"/>
              <a:t>.</a:t>
            </a:r>
            <a:endParaRPr lang="en-IN" dirty="0"/>
          </a:p>
        </p:txBody>
      </p:sp>
      <p:pic>
        <p:nvPicPr>
          <p:cNvPr id="5" name="Picture 4">
            <a:extLst>
              <a:ext uri="{FF2B5EF4-FFF2-40B4-BE49-F238E27FC236}">
                <a16:creationId xmlns:a16="http://schemas.microsoft.com/office/drawing/2014/main" id="{69E8649C-181D-4752-8D84-DA3B258C731E}"/>
              </a:ext>
            </a:extLst>
          </p:cNvPr>
          <p:cNvPicPr>
            <a:picLocks noChangeAspect="1"/>
          </p:cNvPicPr>
          <p:nvPr/>
        </p:nvPicPr>
        <p:blipFill>
          <a:blip r:embed="rId2"/>
          <a:stretch>
            <a:fillRect/>
          </a:stretch>
        </p:blipFill>
        <p:spPr>
          <a:xfrm>
            <a:off x="3202470" y="3097694"/>
            <a:ext cx="5527960" cy="347538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94776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F12AE-900A-450C-A7B4-A9430BC73767}"/>
              </a:ext>
            </a:extLst>
          </p:cNvPr>
          <p:cNvSpPr>
            <a:spLocks noGrp="1"/>
          </p:cNvSpPr>
          <p:nvPr>
            <p:ph idx="1"/>
          </p:nvPr>
        </p:nvSpPr>
        <p:spPr>
          <a:xfrm>
            <a:off x="768626" y="371061"/>
            <a:ext cx="10498931" cy="5420139"/>
          </a:xfrm>
        </p:spPr>
        <p:txBody>
          <a:bodyPr/>
          <a:lstStyle/>
          <a:p>
            <a:r>
              <a:rPr lang="en-IN" dirty="0"/>
              <a:t>For certain Job ID’s we can see that the hiring was done on based on ‘Latest Degree CGPA’ and ‘Current Company Type’ but they turned out to be not that good factor in fitment. </a:t>
            </a:r>
          </a:p>
        </p:txBody>
      </p:sp>
      <p:pic>
        <p:nvPicPr>
          <p:cNvPr id="5" name="Picture 4">
            <a:extLst>
              <a:ext uri="{FF2B5EF4-FFF2-40B4-BE49-F238E27FC236}">
                <a16:creationId xmlns:a16="http://schemas.microsoft.com/office/drawing/2014/main" id="{ABA10483-555E-443B-9C1B-96151E6233A5}"/>
              </a:ext>
            </a:extLst>
          </p:cNvPr>
          <p:cNvPicPr>
            <a:picLocks noChangeAspect="1"/>
          </p:cNvPicPr>
          <p:nvPr/>
        </p:nvPicPr>
        <p:blipFill>
          <a:blip r:embed="rId2"/>
          <a:stretch>
            <a:fillRect/>
          </a:stretch>
        </p:blipFill>
        <p:spPr>
          <a:xfrm>
            <a:off x="3113018" y="1657832"/>
            <a:ext cx="5197337" cy="456075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876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254582-D316-46C0-A75A-C0A6C63E2453}"/>
              </a:ext>
            </a:extLst>
          </p:cNvPr>
          <p:cNvSpPr>
            <a:spLocks noGrp="1"/>
          </p:cNvSpPr>
          <p:nvPr>
            <p:ph idx="1"/>
          </p:nvPr>
        </p:nvSpPr>
        <p:spPr>
          <a:xfrm>
            <a:off x="913795" y="278296"/>
            <a:ext cx="10353762" cy="5512903"/>
          </a:xfrm>
        </p:spPr>
        <p:txBody>
          <a:bodyPr/>
          <a:lstStyle/>
          <a:p>
            <a:r>
              <a:rPr lang="en-IN" dirty="0"/>
              <a:t>The unknown Bias values were having large difference in fitment score compared to known bias. </a:t>
            </a:r>
          </a:p>
          <a:p>
            <a:r>
              <a:rPr lang="en-IN" dirty="0"/>
              <a:t>Even if all the other values were remain constant, for the same “Emp score” and  “Current company type”, the fitment scores vary between the ‘Unknown’(Orange in figure) and all other bias(Blue in figure). Below figure signifies the same. </a:t>
            </a:r>
          </a:p>
        </p:txBody>
      </p:sp>
      <p:pic>
        <p:nvPicPr>
          <p:cNvPr id="5" name="Picture 4">
            <a:extLst>
              <a:ext uri="{FF2B5EF4-FFF2-40B4-BE49-F238E27FC236}">
                <a16:creationId xmlns:a16="http://schemas.microsoft.com/office/drawing/2014/main" id="{F078597B-C68F-4694-B724-5D99BE579E6B}"/>
              </a:ext>
            </a:extLst>
          </p:cNvPr>
          <p:cNvPicPr>
            <a:picLocks noChangeAspect="1"/>
          </p:cNvPicPr>
          <p:nvPr/>
        </p:nvPicPr>
        <p:blipFill>
          <a:blip r:embed="rId2"/>
          <a:stretch>
            <a:fillRect/>
          </a:stretch>
        </p:blipFill>
        <p:spPr>
          <a:xfrm>
            <a:off x="3058146" y="2814844"/>
            <a:ext cx="5593112" cy="358595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320529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1A640-1C03-49D8-AFEC-D5F922CA65C0}"/>
              </a:ext>
            </a:extLst>
          </p:cNvPr>
          <p:cNvSpPr>
            <a:spLocks noGrp="1"/>
          </p:cNvSpPr>
          <p:nvPr>
            <p:ph type="title"/>
          </p:nvPr>
        </p:nvSpPr>
        <p:spPr/>
        <p:txBody>
          <a:bodyPr/>
          <a:lstStyle/>
          <a:p>
            <a:r>
              <a:rPr lang="en-IN" dirty="0"/>
              <a:t>Classifier Model </a:t>
            </a:r>
          </a:p>
        </p:txBody>
      </p:sp>
      <p:sp>
        <p:nvSpPr>
          <p:cNvPr id="4" name="Content Placeholder 3">
            <a:extLst>
              <a:ext uri="{FF2B5EF4-FFF2-40B4-BE49-F238E27FC236}">
                <a16:creationId xmlns:a16="http://schemas.microsoft.com/office/drawing/2014/main" id="{05937D52-3A3E-4A23-BF4E-EC0E3BB1E672}"/>
              </a:ext>
            </a:extLst>
          </p:cNvPr>
          <p:cNvSpPr>
            <a:spLocks noGrp="1"/>
          </p:cNvSpPr>
          <p:nvPr>
            <p:ph idx="1"/>
          </p:nvPr>
        </p:nvSpPr>
        <p:spPr>
          <a:xfrm>
            <a:off x="924443" y="1866900"/>
            <a:ext cx="10353762" cy="3714749"/>
          </a:xfrm>
        </p:spPr>
        <p:txBody>
          <a:bodyPr/>
          <a:lstStyle/>
          <a:p>
            <a:r>
              <a:rPr lang="en-IN" dirty="0"/>
              <a:t>For predicting the “Bias Influential Factors” a classification model was created.</a:t>
            </a:r>
          </a:p>
          <a:p>
            <a:r>
              <a:rPr lang="en-IN" dirty="0"/>
              <a:t>Multiclass </a:t>
            </a:r>
            <a:r>
              <a:rPr lang="en-IN" dirty="0" err="1"/>
              <a:t>CatBoost</a:t>
            </a:r>
            <a:r>
              <a:rPr lang="en-IN" dirty="0"/>
              <a:t> Classifier model was created for this task.</a:t>
            </a:r>
          </a:p>
          <a:p>
            <a:pPr marL="36900" indent="0">
              <a:buNone/>
            </a:pPr>
            <a:endParaRPr lang="en-IN" dirty="0"/>
          </a:p>
        </p:txBody>
      </p:sp>
      <p:pic>
        <p:nvPicPr>
          <p:cNvPr id="1028" name="Picture 4" descr="Xgboost vs Catboost | MLJAR Automated Machine Learning">
            <a:extLst>
              <a:ext uri="{FF2B5EF4-FFF2-40B4-BE49-F238E27FC236}">
                <a16:creationId xmlns:a16="http://schemas.microsoft.com/office/drawing/2014/main" id="{20CA959A-97C0-418C-B062-09F11F08B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442" y="3578071"/>
            <a:ext cx="5251313" cy="2470832"/>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1030" name="Picture 6" descr="CatBoost - open-source gradient boosting library">
            <a:extLst>
              <a:ext uri="{FF2B5EF4-FFF2-40B4-BE49-F238E27FC236}">
                <a16:creationId xmlns:a16="http://schemas.microsoft.com/office/drawing/2014/main" id="{A11F8B09-CAAD-47AE-8748-41BCD3E49D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869" y="3578071"/>
            <a:ext cx="4316689" cy="2470832"/>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1789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19D10-070E-4A65-8413-8EFE7B0C0599}"/>
              </a:ext>
            </a:extLst>
          </p:cNvPr>
          <p:cNvSpPr>
            <a:spLocks noGrp="1"/>
          </p:cNvSpPr>
          <p:nvPr>
            <p:ph type="title"/>
          </p:nvPr>
        </p:nvSpPr>
        <p:spPr>
          <a:xfrm>
            <a:off x="741517" y="-190499"/>
            <a:ext cx="10353762" cy="1257300"/>
          </a:xfrm>
        </p:spPr>
        <p:txBody>
          <a:bodyPr/>
          <a:lstStyle/>
          <a:p>
            <a:r>
              <a:rPr lang="en-IN" dirty="0"/>
              <a:t>Bias Insights</a:t>
            </a:r>
          </a:p>
        </p:txBody>
      </p:sp>
      <p:sp>
        <p:nvSpPr>
          <p:cNvPr id="3" name="Content Placeholder 2">
            <a:extLst>
              <a:ext uri="{FF2B5EF4-FFF2-40B4-BE49-F238E27FC236}">
                <a16:creationId xmlns:a16="http://schemas.microsoft.com/office/drawing/2014/main" id="{716D685B-65CD-402C-A962-F22D601EF153}"/>
              </a:ext>
            </a:extLst>
          </p:cNvPr>
          <p:cNvSpPr>
            <a:spLocks noGrp="1"/>
          </p:cNvSpPr>
          <p:nvPr>
            <p:ph idx="1"/>
          </p:nvPr>
        </p:nvSpPr>
        <p:spPr>
          <a:xfrm>
            <a:off x="919119" y="737980"/>
            <a:ext cx="10353762" cy="3714749"/>
          </a:xfrm>
        </p:spPr>
        <p:txBody>
          <a:bodyPr/>
          <a:lstStyle/>
          <a:p>
            <a:r>
              <a:rPr lang="en-IN" dirty="0"/>
              <a:t>Top 3 features which were recognized as the important features by our model were:</a:t>
            </a:r>
          </a:p>
          <a:p>
            <a:r>
              <a:rPr lang="en-IN" dirty="0"/>
              <a:t>Experience, Gender, Degree Branch for the candidates.</a:t>
            </a:r>
          </a:p>
        </p:txBody>
      </p:sp>
      <p:pic>
        <p:nvPicPr>
          <p:cNvPr id="5" name="Picture 4">
            <a:extLst>
              <a:ext uri="{FF2B5EF4-FFF2-40B4-BE49-F238E27FC236}">
                <a16:creationId xmlns:a16="http://schemas.microsoft.com/office/drawing/2014/main" id="{2DC371CD-C9D5-479A-ADAD-5C11F53633EF}"/>
              </a:ext>
            </a:extLst>
          </p:cNvPr>
          <p:cNvPicPr>
            <a:picLocks noChangeAspect="1"/>
          </p:cNvPicPr>
          <p:nvPr/>
        </p:nvPicPr>
        <p:blipFill>
          <a:blip r:embed="rId2"/>
          <a:stretch>
            <a:fillRect/>
          </a:stretch>
        </p:blipFill>
        <p:spPr>
          <a:xfrm>
            <a:off x="2497517" y="1995280"/>
            <a:ext cx="7196965" cy="463171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60997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47032E-3767-49DD-B61E-7077F61175C9}"/>
              </a:ext>
            </a:extLst>
          </p:cNvPr>
          <p:cNvSpPr>
            <a:spLocks noGrp="1"/>
          </p:cNvSpPr>
          <p:nvPr>
            <p:ph idx="1"/>
          </p:nvPr>
        </p:nvSpPr>
        <p:spPr>
          <a:xfrm>
            <a:off x="807777" y="247650"/>
            <a:ext cx="10353762" cy="3714749"/>
          </a:xfrm>
        </p:spPr>
        <p:txBody>
          <a:bodyPr/>
          <a:lstStyle/>
          <a:p>
            <a:r>
              <a:rPr lang="en-IN" dirty="0"/>
              <a:t>The Bias values which were blank in data and not identified previously, were mainly influenced by below top features. </a:t>
            </a:r>
          </a:p>
          <a:p>
            <a:endParaRPr lang="en-IN" dirty="0"/>
          </a:p>
        </p:txBody>
      </p:sp>
      <p:pic>
        <p:nvPicPr>
          <p:cNvPr id="5" name="Picture 4">
            <a:extLst>
              <a:ext uri="{FF2B5EF4-FFF2-40B4-BE49-F238E27FC236}">
                <a16:creationId xmlns:a16="http://schemas.microsoft.com/office/drawing/2014/main" id="{EF2047AD-5792-4018-B159-F4AB1F9611FB}"/>
              </a:ext>
            </a:extLst>
          </p:cNvPr>
          <p:cNvPicPr>
            <a:picLocks noChangeAspect="1"/>
          </p:cNvPicPr>
          <p:nvPr/>
        </p:nvPicPr>
        <p:blipFill>
          <a:blip r:embed="rId2"/>
          <a:stretch>
            <a:fillRect/>
          </a:stretch>
        </p:blipFill>
        <p:spPr>
          <a:xfrm>
            <a:off x="1990815" y="1416221"/>
            <a:ext cx="8210369" cy="5092355"/>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12968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2FF3C-79C6-427A-AFED-43BDEAAE2444}"/>
              </a:ext>
            </a:extLst>
          </p:cNvPr>
          <p:cNvSpPr>
            <a:spLocks noGrp="1"/>
          </p:cNvSpPr>
          <p:nvPr>
            <p:ph type="title"/>
          </p:nvPr>
        </p:nvSpPr>
        <p:spPr/>
        <p:txBody>
          <a:bodyPr/>
          <a:lstStyle/>
          <a:p>
            <a:r>
              <a:rPr lang="en-IN" dirty="0"/>
              <a:t>Regression Model</a:t>
            </a:r>
          </a:p>
        </p:txBody>
      </p:sp>
      <p:sp>
        <p:nvSpPr>
          <p:cNvPr id="3" name="Content Placeholder 2">
            <a:extLst>
              <a:ext uri="{FF2B5EF4-FFF2-40B4-BE49-F238E27FC236}">
                <a16:creationId xmlns:a16="http://schemas.microsoft.com/office/drawing/2014/main" id="{E03AF7D1-4019-4F66-9C14-432F47EF385A}"/>
              </a:ext>
            </a:extLst>
          </p:cNvPr>
          <p:cNvSpPr>
            <a:spLocks noGrp="1"/>
          </p:cNvSpPr>
          <p:nvPr>
            <p:ph idx="1"/>
          </p:nvPr>
        </p:nvSpPr>
        <p:spPr/>
        <p:txBody>
          <a:bodyPr/>
          <a:lstStyle/>
          <a:p>
            <a:r>
              <a:rPr lang="en-IN" dirty="0"/>
              <a:t>For predicting the ‘Fitment %’ of the candidates a regression model was created.</a:t>
            </a:r>
          </a:p>
          <a:p>
            <a:r>
              <a:rPr lang="en-IN" dirty="0" err="1"/>
              <a:t>CatBoost</a:t>
            </a:r>
            <a:r>
              <a:rPr lang="en-IN" dirty="0"/>
              <a:t> Regression model was created for this task.</a:t>
            </a:r>
          </a:p>
        </p:txBody>
      </p:sp>
      <p:pic>
        <p:nvPicPr>
          <p:cNvPr id="4" name="Picture 4" descr="Xgboost vs Catboost | MLJAR Automated Machine Learning">
            <a:extLst>
              <a:ext uri="{FF2B5EF4-FFF2-40B4-BE49-F238E27FC236}">
                <a16:creationId xmlns:a16="http://schemas.microsoft.com/office/drawing/2014/main" id="{FAD219A6-B9C8-45CA-8A58-42A4E08A9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0442" y="3578071"/>
            <a:ext cx="5251313" cy="2470832"/>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5" name="Picture 6" descr="CatBoost - open-source gradient boosting library">
            <a:extLst>
              <a:ext uri="{FF2B5EF4-FFF2-40B4-BE49-F238E27FC236}">
                <a16:creationId xmlns:a16="http://schemas.microsoft.com/office/drawing/2014/main" id="{8509E9D2-AED6-4961-91EB-CE10405F9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869" y="3578071"/>
            <a:ext cx="4316689" cy="2470832"/>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27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19D10-070E-4A65-8413-8EFE7B0C0599}"/>
              </a:ext>
            </a:extLst>
          </p:cNvPr>
          <p:cNvSpPr>
            <a:spLocks noGrp="1"/>
          </p:cNvSpPr>
          <p:nvPr>
            <p:ph type="title"/>
          </p:nvPr>
        </p:nvSpPr>
        <p:spPr>
          <a:xfrm>
            <a:off x="741517" y="-190499"/>
            <a:ext cx="10353762" cy="1257300"/>
          </a:xfrm>
        </p:spPr>
        <p:txBody>
          <a:bodyPr/>
          <a:lstStyle/>
          <a:p>
            <a:r>
              <a:rPr lang="en-IN" dirty="0"/>
              <a:t>Fitment Insights</a:t>
            </a:r>
          </a:p>
        </p:txBody>
      </p:sp>
      <p:sp>
        <p:nvSpPr>
          <p:cNvPr id="3" name="Content Placeholder 2">
            <a:extLst>
              <a:ext uri="{FF2B5EF4-FFF2-40B4-BE49-F238E27FC236}">
                <a16:creationId xmlns:a16="http://schemas.microsoft.com/office/drawing/2014/main" id="{716D685B-65CD-402C-A962-F22D601EF153}"/>
              </a:ext>
            </a:extLst>
          </p:cNvPr>
          <p:cNvSpPr>
            <a:spLocks noGrp="1"/>
          </p:cNvSpPr>
          <p:nvPr>
            <p:ph idx="1"/>
          </p:nvPr>
        </p:nvSpPr>
        <p:spPr>
          <a:xfrm>
            <a:off x="919119" y="737980"/>
            <a:ext cx="10353762" cy="3714749"/>
          </a:xfrm>
        </p:spPr>
        <p:txBody>
          <a:bodyPr/>
          <a:lstStyle/>
          <a:p>
            <a:r>
              <a:rPr lang="en-IN" dirty="0"/>
              <a:t>Top 2 features which were recognized as the important features by our model were:</a:t>
            </a:r>
          </a:p>
          <a:p>
            <a:r>
              <a:rPr lang="en-IN" dirty="0"/>
              <a:t>Current company type and Gender. Surprisingly Experience was way low in it.</a:t>
            </a:r>
          </a:p>
        </p:txBody>
      </p:sp>
      <p:pic>
        <p:nvPicPr>
          <p:cNvPr id="6" name="Picture 5">
            <a:extLst>
              <a:ext uri="{FF2B5EF4-FFF2-40B4-BE49-F238E27FC236}">
                <a16:creationId xmlns:a16="http://schemas.microsoft.com/office/drawing/2014/main" id="{A318FACB-BFD0-4CB8-ACBF-3152317AB7D0}"/>
              </a:ext>
            </a:extLst>
          </p:cNvPr>
          <p:cNvPicPr>
            <a:picLocks noChangeAspect="1"/>
          </p:cNvPicPr>
          <p:nvPr/>
        </p:nvPicPr>
        <p:blipFill>
          <a:blip r:embed="rId2"/>
          <a:stretch>
            <a:fillRect/>
          </a:stretch>
        </p:blipFill>
        <p:spPr>
          <a:xfrm>
            <a:off x="2233610" y="1995280"/>
            <a:ext cx="6958895" cy="456454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521014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565534-4553-437B-9F28-683BA5AAC6DA}"/>
              </a:ext>
            </a:extLst>
          </p:cNvPr>
          <p:cNvSpPr>
            <a:spLocks noGrp="1"/>
          </p:cNvSpPr>
          <p:nvPr>
            <p:ph idx="1"/>
          </p:nvPr>
        </p:nvSpPr>
        <p:spPr>
          <a:xfrm>
            <a:off x="913795" y="543340"/>
            <a:ext cx="10353762" cy="5247860"/>
          </a:xfrm>
        </p:spPr>
        <p:txBody>
          <a:bodyPr/>
          <a:lstStyle/>
          <a:p>
            <a:r>
              <a:rPr lang="en-IN" dirty="0"/>
              <a:t>The “Current company type” feature was dominant in our fitment criteria, and mainly it indicated that ‘Enterprise’ candidates were not having good fitment.             (Left Figure)</a:t>
            </a:r>
          </a:p>
          <a:p>
            <a:r>
              <a:rPr lang="en-IN" dirty="0"/>
              <a:t>And because the Gender class ‘Other’ were mainly in the ‘Enterprise’ they were having less fitment scores. (Right Figure)</a:t>
            </a:r>
          </a:p>
        </p:txBody>
      </p:sp>
      <p:pic>
        <p:nvPicPr>
          <p:cNvPr id="5" name="Picture 4">
            <a:extLst>
              <a:ext uri="{FF2B5EF4-FFF2-40B4-BE49-F238E27FC236}">
                <a16:creationId xmlns:a16="http://schemas.microsoft.com/office/drawing/2014/main" id="{019B36A1-18B5-4C7E-9151-2A840A530AA6}"/>
              </a:ext>
            </a:extLst>
          </p:cNvPr>
          <p:cNvPicPr>
            <a:picLocks noChangeAspect="1"/>
          </p:cNvPicPr>
          <p:nvPr/>
        </p:nvPicPr>
        <p:blipFill>
          <a:blip r:embed="rId2"/>
          <a:stretch>
            <a:fillRect/>
          </a:stretch>
        </p:blipFill>
        <p:spPr>
          <a:xfrm>
            <a:off x="261834" y="3313042"/>
            <a:ext cx="5601680" cy="3001617"/>
          </a:xfrm>
          <a:prstGeom prst="rect">
            <a:avLst/>
          </a:prstGeom>
          <a:ln w="2286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9B684DFC-CD93-4EFE-B844-B8D5B04A5D59}"/>
              </a:ext>
            </a:extLst>
          </p:cNvPr>
          <p:cNvPicPr>
            <a:picLocks noChangeAspect="1"/>
          </p:cNvPicPr>
          <p:nvPr/>
        </p:nvPicPr>
        <p:blipFill>
          <a:blip r:embed="rId3"/>
          <a:stretch>
            <a:fillRect/>
          </a:stretch>
        </p:blipFill>
        <p:spPr>
          <a:xfrm>
            <a:off x="6374297" y="2791479"/>
            <a:ext cx="5356538" cy="366233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89091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234D-0FE8-4E22-B962-543DEE8A5FC8}"/>
              </a:ext>
            </a:extLst>
          </p:cNvPr>
          <p:cNvSpPr>
            <a:spLocks noGrp="1"/>
          </p:cNvSpPr>
          <p:nvPr>
            <p:ph type="title"/>
          </p:nvPr>
        </p:nvSpPr>
        <p:spPr>
          <a:xfrm>
            <a:off x="913795" y="0"/>
            <a:ext cx="10353762" cy="1257300"/>
          </a:xfrm>
        </p:spPr>
        <p:txBody>
          <a:bodyPr/>
          <a:lstStyle/>
          <a:p>
            <a:r>
              <a:rPr lang="en-IN" dirty="0"/>
              <a:t>Other Insights</a:t>
            </a:r>
          </a:p>
        </p:txBody>
      </p:sp>
      <p:sp>
        <p:nvSpPr>
          <p:cNvPr id="3" name="Content Placeholder 2">
            <a:extLst>
              <a:ext uri="{FF2B5EF4-FFF2-40B4-BE49-F238E27FC236}">
                <a16:creationId xmlns:a16="http://schemas.microsoft.com/office/drawing/2014/main" id="{CE3813B6-277F-4DC0-8A84-CE8A95DBB8B6}"/>
              </a:ext>
            </a:extLst>
          </p:cNvPr>
          <p:cNvSpPr>
            <a:spLocks noGrp="1"/>
          </p:cNvSpPr>
          <p:nvPr>
            <p:ph idx="1"/>
          </p:nvPr>
        </p:nvSpPr>
        <p:spPr>
          <a:xfrm>
            <a:off x="980455" y="1124778"/>
            <a:ext cx="10353762" cy="3714749"/>
          </a:xfrm>
        </p:spPr>
        <p:txBody>
          <a:bodyPr/>
          <a:lstStyle/>
          <a:p>
            <a:r>
              <a:rPr lang="en-IN" dirty="0"/>
              <a:t>Employees who got high score by their recommender, Demand more Expected CTC.</a:t>
            </a:r>
          </a:p>
          <a:p>
            <a:r>
              <a:rPr lang="en-IN" dirty="0"/>
              <a:t>So to get the quality candidates, company would need to give a higher CTC, as what also happens generally.</a:t>
            </a:r>
          </a:p>
        </p:txBody>
      </p:sp>
      <p:pic>
        <p:nvPicPr>
          <p:cNvPr id="5" name="Picture 4">
            <a:extLst>
              <a:ext uri="{FF2B5EF4-FFF2-40B4-BE49-F238E27FC236}">
                <a16:creationId xmlns:a16="http://schemas.microsoft.com/office/drawing/2014/main" id="{94267746-C54C-4CD6-94EB-8B3ED536C5E1}"/>
              </a:ext>
            </a:extLst>
          </p:cNvPr>
          <p:cNvPicPr>
            <a:picLocks noChangeAspect="1"/>
          </p:cNvPicPr>
          <p:nvPr/>
        </p:nvPicPr>
        <p:blipFill>
          <a:blip r:embed="rId2"/>
          <a:stretch>
            <a:fillRect/>
          </a:stretch>
        </p:blipFill>
        <p:spPr>
          <a:xfrm>
            <a:off x="3114055" y="2716467"/>
            <a:ext cx="5433598" cy="3726534"/>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318108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5FDDD6-68F9-46C9-A2D7-6D9EFF530759}"/>
              </a:ext>
            </a:extLst>
          </p:cNvPr>
          <p:cNvSpPr>
            <a:spLocks noGrp="1"/>
          </p:cNvSpPr>
          <p:nvPr>
            <p:ph idx="1"/>
          </p:nvPr>
        </p:nvSpPr>
        <p:spPr>
          <a:xfrm>
            <a:off x="919119" y="0"/>
            <a:ext cx="10353762" cy="6338680"/>
          </a:xfrm>
        </p:spPr>
        <p:txBody>
          <a:bodyPr/>
          <a:lstStyle/>
          <a:p>
            <a:r>
              <a:rPr lang="en-IN" dirty="0"/>
              <a:t>The Higher degree was mainly absent from the candidates with ‘Enterprise’ as current company type.</a:t>
            </a:r>
          </a:p>
          <a:p>
            <a:r>
              <a:rPr lang="en-IN" dirty="0"/>
              <a:t>This may be the reason for their less fitment %</a:t>
            </a:r>
          </a:p>
          <a:p>
            <a:r>
              <a:rPr lang="en-IN" dirty="0"/>
              <a:t>Also ‘Other’ class gender candidates are mainly from enterprise, they also lack the Higher degree. Leading to less fitment.</a:t>
            </a:r>
          </a:p>
          <a:p>
            <a:endParaRPr lang="en-IN" dirty="0"/>
          </a:p>
        </p:txBody>
      </p:sp>
      <p:pic>
        <p:nvPicPr>
          <p:cNvPr id="5" name="Picture 4">
            <a:extLst>
              <a:ext uri="{FF2B5EF4-FFF2-40B4-BE49-F238E27FC236}">
                <a16:creationId xmlns:a16="http://schemas.microsoft.com/office/drawing/2014/main" id="{65E36778-1524-4102-93BC-A1E89C5DA922}"/>
              </a:ext>
            </a:extLst>
          </p:cNvPr>
          <p:cNvPicPr>
            <a:picLocks noChangeAspect="1"/>
          </p:cNvPicPr>
          <p:nvPr/>
        </p:nvPicPr>
        <p:blipFill>
          <a:blip r:embed="rId2"/>
          <a:stretch>
            <a:fillRect/>
          </a:stretch>
        </p:blipFill>
        <p:spPr>
          <a:xfrm>
            <a:off x="3071398" y="2650642"/>
            <a:ext cx="5512342" cy="394645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883248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E757A-2CEE-4E90-88BD-910BB3362778}"/>
              </a:ext>
            </a:extLst>
          </p:cNvPr>
          <p:cNvSpPr>
            <a:spLocks noGrp="1"/>
          </p:cNvSpPr>
          <p:nvPr>
            <p:ph type="title"/>
          </p:nvPr>
        </p:nvSpPr>
        <p:spPr>
          <a:xfrm>
            <a:off x="913795" y="609600"/>
            <a:ext cx="10353762" cy="5499652"/>
          </a:xfrm>
        </p:spPr>
        <p:txBody>
          <a:bodyPr/>
          <a:lstStyle/>
          <a:p>
            <a:r>
              <a:rPr lang="en-IN" dirty="0"/>
              <a:t>Thanks!!</a:t>
            </a:r>
          </a:p>
        </p:txBody>
      </p:sp>
    </p:spTree>
    <p:extLst>
      <p:ext uri="{BB962C8B-B14F-4D97-AF65-F5344CB8AC3E}">
        <p14:creationId xmlns:p14="http://schemas.microsoft.com/office/powerpoint/2010/main" val="13653903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2.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1330</TotalTime>
  <Words>682</Words>
  <Application>Microsoft Office PowerPoint</Application>
  <PresentationFormat>Widescreen</PresentationFormat>
  <Paragraphs>46</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Comic Sans MS</vt:lpstr>
      <vt:lpstr>Goudy Old Style</vt:lpstr>
      <vt:lpstr>Wingdings 2</vt:lpstr>
      <vt:lpstr>SlateVTI</vt:lpstr>
      <vt:lpstr>Gender Neutrality and Inclusion </vt:lpstr>
      <vt:lpstr>Problem Statement</vt:lpstr>
      <vt:lpstr>Tasks</vt:lpstr>
      <vt:lpstr>Data </vt:lpstr>
      <vt:lpstr>Data</vt:lpstr>
      <vt:lpstr>Correlation chart</vt:lpstr>
      <vt:lpstr>Gender Bias</vt:lpstr>
      <vt:lpstr>PowerPoint Presentation</vt:lpstr>
      <vt:lpstr>Unknown Data for Bias</vt:lpstr>
      <vt:lpstr>Data Insights</vt:lpstr>
      <vt:lpstr>PowerPoint Presentation</vt:lpstr>
      <vt:lpstr>PowerPoint Presentation</vt:lpstr>
      <vt:lpstr>Classifier Model </vt:lpstr>
      <vt:lpstr>Bias Insights</vt:lpstr>
      <vt:lpstr>PowerPoint Presentation</vt:lpstr>
      <vt:lpstr>Regression Model</vt:lpstr>
      <vt:lpstr>Fitment Insights</vt:lpstr>
      <vt:lpstr>PowerPoint Presentation</vt:lpstr>
      <vt:lpstr>Other Insights</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 Neutrality and Inclusion </dc:title>
  <dc:creator>avijeet ranawat</dc:creator>
  <cp:lastModifiedBy>avijeet ranawat</cp:lastModifiedBy>
  <cp:revision>29</cp:revision>
  <dcterms:created xsi:type="dcterms:W3CDTF">2021-06-05T11:53:50Z</dcterms:created>
  <dcterms:modified xsi:type="dcterms:W3CDTF">2021-06-06T15:11:02Z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